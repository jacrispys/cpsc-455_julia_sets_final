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Average"/>
      <p:regular r:id="rId31"/>
    </p:embeddedFont>
    <p:embeddedFont>
      <p:font typeface="Oswald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verage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Oswald-bold.fntdata"/><Relationship Id="rId10" Type="http://schemas.openxmlformats.org/officeDocument/2006/relationships/slide" Target="slides/slide5.xml"/><Relationship Id="rId32" Type="http://schemas.openxmlformats.org/officeDocument/2006/relationships/font" Target="fonts/Oswal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0c9d5261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0c9d5261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70c9d5261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70c9d5261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70c9d5261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70c9d5261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0c9d5261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0c9d5261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0c9d5261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0c9d5261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0c9d5261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0c9d5261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70c9d5261f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70c9d5261f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70c9d5261f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70c9d5261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0c9d5261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0c9d5261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70c9d5261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70c9d5261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70c9d5261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70c9d5261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70c9d5261f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70c9d5261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70c9d5261f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70c9d5261f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70c9d5261f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70c9d5261f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0c9d5261f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0c9d5261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0c9d5261f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0c9d5261f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70c9d5261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0c9d5261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70c9d5261f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70c9d5261f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70c9d5261f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70c9d5261f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70c9d5261f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70c9d5261f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70c9d5261f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70c9d5261f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70c9d5261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70c9d5261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70c9d5261f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70c9d5261f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70c9d5261f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70c9d5261f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www.youtube.com/watch?v=cEoZ-7ZsanE" TargetMode="External"/><Relationship Id="rId4" Type="http://schemas.openxmlformats.org/officeDocument/2006/relationships/image" Target="../media/image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ithub.com/johnBuffer/JuliaRendering" TargetMode="External"/><Relationship Id="rId4" Type="http://schemas.openxmlformats.org/officeDocument/2006/relationships/hyperlink" Target="https://www.sfml-dev.org/index.php" TargetMode="External"/><Relationship Id="rId5" Type="http://schemas.openxmlformats.org/officeDocument/2006/relationships/hyperlink" Target="https://www.karlsims.com/julia.html#:~:text=Julia%20set%20fractals%20are%20normally,gives%20a%20specific%20Julia%20s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Julia Fractals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</a:t>
            </a:r>
            <a:r>
              <a:rPr lang="en"/>
              <a:t>Jake VanZyverden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Squaring map</a:t>
            </a:r>
            <a:endParaRPr/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</a:t>
            </a:r>
            <a:r>
              <a:rPr baseline="-25000" lang="en"/>
              <a:t>0</a:t>
            </a:r>
            <a:r>
              <a:rPr lang="en"/>
              <a:t>(z) = z</a:t>
            </a:r>
            <a:r>
              <a:rPr baseline="30000" lang="en"/>
              <a:t>2</a:t>
            </a:r>
            <a:endParaRPr/>
          </a:p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When mapped to a unit circle this map is chaotic, and the basis for the julia set.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Julia Set</a:t>
            </a:r>
            <a:endParaRPr/>
          </a:p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</a:t>
            </a:r>
            <a:r>
              <a:rPr baseline="-25000" lang="en"/>
              <a:t>0</a:t>
            </a:r>
            <a:r>
              <a:rPr lang="en"/>
              <a:t>(z) = z</a:t>
            </a:r>
            <a:r>
              <a:rPr baseline="30000" lang="en"/>
              <a:t>2</a:t>
            </a:r>
            <a:r>
              <a:rPr lang="en"/>
              <a:t> + c</a:t>
            </a:r>
            <a:endParaRPr/>
          </a:p>
        </p:txBody>
      </p:sp>
      <p:sp>
        <p:nvSpPr>
          <p:cNvPr id="74" name="Google Shape;74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Adding a complex </a:t>
            </a:r>
            <a:r>
              <a:rPr lang="en"/>
              <a:t>number as a constant to the squaring map we create the julia set.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Julia Set</a:t>
            </a:r>
            <a:endParaRPr/>
          </a:p>
        </p:txBody>
      </p:sp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</a:t>
            </a:r>
            <a:r>
              <a:rPr baseline="-25000" lang="en"/>
              <a:t>0</a:t>
            </a:r>
            <a:r>
              <a:rPr lang="en"/>
              <a:t>(z) = z</a:t>
            </a:r>
            <a:r>
              <a:rPr baseline="30000" lang="en"/>
              <a:t>2</a:t>
            </a:r>
            <a:r>
              <a:rPr lang="en"/>
              <a:t> + c</a:t>
            </a:r>
            <a:endParaRPr/>
          </a:p>
        </p:txBody>
      </p:sp>
      <p:sp>
        <p:nvSpPr>
          <p:cNvPr id="81" name="Google Shape;81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When mapping the julia set where </a:t>
            </a:r>
            <a:br>
              <a:rPr lang="en"/>
            </a:br>
            <a:r>
              <a:rPr lang="en"/>
              <a:t>c ≠ 0, -2 we see self similar fractal like designs.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Julia Set</a:t>
            </a:r>
            <a:endParaRPr/>
          </a:p>
        </p:txBody>
      </p:sp>
      <p:sp>
        <p:nvSpPr>
          <p:cNvPr id="87" name="Google Shape;87;p17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</a:t>
            </a:r>
            <a:r>
              <a:rPr baseline="-25000" lang="en"/>
              <a:t>0</a:t>
            </a:r>
            <a:r>
              <a:rPr lang="en"/>
              <a:t>(z) = z</a:t>
            </a:r>
            <a:r>
              <a:rPr baseline="30000" lang="en"/>
              <a:t>2</a:t>
            </a:r>
            <a:r>
              <a:rPr lang="en"/>
              <a:t> + c</a:t>
            </a:r>
            <a:endParaRPr/>
          </a:p>
        </p:txBody>
      </p:sp>
      <p:sp>
        <p:nvSpPr>
          <p:cNvPr id="88" name="Google Shape;88;p17"/>
          <p:cNvSpPr txBox="1"/>
          <p:nvPr>
            <p:ph idx="2" type="body"/>
          </p:nvPr>
        </p:nvSpPr>
        <p:spPr>
          <a:xfrm>
            <a:off x="4939500" y="3617750"/>
            <a:ext cx="3837000" cy="7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/>
              <a:t>C = -1.0 + 0.0i (max_iter = 500)</a:t>
            </a:r>
            <a:endParaRPr i="1"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3750" y="1081400"/>
            <a:ext cx="4528502" cy="2379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Julia Set</a:t>
            </a:r>
            <a:endParaRPr/>
          </a:p>
        </p:txBody>
      </p:sp>
      <p:sp>
        <p:nvSpPr>
          <p:cNvPr id="95" name="Google Shape;95;p18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</a:t>
            </a:r>
            <a:r>
              <a:rPr baseline="-25000" lang="en"/>
              <a:t>0</a:t>
            </a:r>
            <a:r>
              <a:rPr lang="en"/>
              <a:t>(z) = z</a:t>
            </a:r>
            <a:r>
              <a:rPr baseline="30000" lang="en"/>
              <a:t>2</a:t>
            </a:r>
            <a:r>
              <a:rPr lang="en"/>
              <a:t> + c</a:t>
            </a:r>
            <a:endParaRPr/>
          </a:p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4939500" y="3617750"/>
            <a:ext cx="3837000" cy="7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500"/>
              <a:t>C = 0.360284 + 0.100376i (max_iter = 250)</a:t>
            </a:r>
            <a:endParaRPr i="1" sz="1500"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3750" y="883825"/>
            <a:ext cx="4528502" cy="2379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Julia Set</a:t>
            </a:r>
            <a:endParaRPr/>
          </a:p>
        </p:txBody>
      </p:sp>
      <p:sp>
        <p:nvSpPr>
          <p:cNvPr id="103" name="Google Shape;103;p1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</a:t>
            </a:r>
            <a:r>
              <a:rPr baseline="-25000" lang="en"/>
              <a:t>0</a:t>
            </a:r>
            <a:r>
              <a:rPr lang="en"/>
              <a:t>(z) = z</a:t>
            </a:r>
            <a:r>
              <a:rPr baseline="30000" lang="en"/>
              <a:t>2</a:t>
            </a:r>
            <a:r>
              <a:rPr lang="en"/>
              <a:t> + c</a:t>
            </a:r>
            <a:endParaRPr/>
          </a:p>
        </p:txBody>
      </p:sp>
      <p:sp>
        <p:nvSpPr>
          <p:cNvPr id="104" name="Google Shape;104;p19"/>
          <p:cNvSpPr txBox="1"/>
          <p:nvPr>
            <p:ph idx="2" type="body"/>
          </p:nvPr>
        </p:nvSpPr>
        <p:spPr>
          <a:xfrm>
            <a:off x="4939500" y="3617750"/>
            <a:ext cx="3837000" cy="7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/>
              <a:t>C = -0.8 + 0.15i (max_iter = 500)</a:t>
            </a:r>
            <a:endParaRPr i="1"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3750" y="1081400"/>
            <a:ext cx="4528502" cy="2379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the Julia Set (Critical Orbits)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Bounded &amp; Connected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Unbounded &amp; Shattered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the Julia Set </a:t>
            </a:r>
            <a:r>
              <a:rPr lang="en"/>
              <a:t>(Critical Orbits)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Bounded &amp; Connected</a:t>
            </a:r>
            <a:endParaRPr b="1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Unbounded &amp; Shattered</a:t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3475" y="1671000"/>
            <a:ext cx="4527600" cy="237934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3932350" y="4081775"/>
            <a:ext cx="44121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 = -0.75 + 0.0i (max_iter = 250)</a:t>
            </a:r>
            <a:endParaRPr i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699975" y="2107650"/>
            <a:ext cx="24222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verage"/>
              <a:buChar char="-"/>
            </a:pPr>
            <a:r>
              <a:rPr lang="en" sz="1200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Orbit of 0 is bounded within the frame and cannot escape to infinity.</a:t>
            </a:r>
            <a:endParaRPr sz="1200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the Julia Set </a:t>
            </a:r>
            <a:r>
              <a:rPr lang="en"/>
              <a:t>(Critical Orbits)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Bounded &amp; Connected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">
                <a:solidFill>
                  <a:schemeClr val="lt2"/>
                </a:solidFill>
              </a:rPr>
              <a:t>Unbounded &amp; Shattered</a:t>
            </a:r>
            <a:endParaRPr b="1">
              <a:solidFill>
                <a:schemeClr val="lt2"/>
              </a:solidFill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3932350" y="4081775"/>
            <a:ext cx="44121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 = -0.75 + 0.1i (max_iter = 500)</a:t>
            </a:r>
            <a:endParaRPr i="1"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8779" y="1671146"/>
            <a:ext cx="4527600" cy="237934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770750" y="3830100"/>
            <a:ext cx="24222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verage"/>
              <a:buChar char="-"/>
            </a:pPr>
            <a:r>
              <a:rPr lang="en" sz="1200">
                <a:solidFill>
                  <a:schemeClr val="lt2"/>
                </a:solidFill>
                <a:latin typeface="Average"/>
                <a:ea typeface="Average"/>
                <a:cs typeface="Average"/>
                <a:sym typeface="Average"/>
              </a:rPr>
              <a:t>Orbit of 0 escapes to infinity before max iterations.</a:t>
            </a:r>
            <a:endParaRPr sz="1200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Gradients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Julia iteration functions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Rough iterates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Smooth iterates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Anti-aliasing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Optimization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>
                <a:solidFill>
                  <a:schemeClr val="dk1"/>
                </a:solidFill>
              </a:rPr>
              <a:t>Gradients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Julia iteration functions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Rough iterates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Smooth iterates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Anti-aliasing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Optimization</a:t>
            </a:r>
            <a:endParaRPr/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3200" y="1082525"/>
            <a:ext cx="3660902" cy="1923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3" name="Google Shape;14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0326" y="2449930"/>
            <a:ext cx="3660898" cy="1923883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>
                <a:solidFill>
                  <a:schemeClr val="dk1"/>
                </a:solidFill>
              </a:rPr>
              <a:t>Gradients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Julia iteration functions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Rough iterates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Smooth iterates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Anti-aliasing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Optimization</a:t>
            </a:r>
            <a:endParaRPr/>
          </a:p>
        </p:txBody>
      </p:sp>
      <p:pic>
        <p:nvPicPr>
          <p:cNvPr id="150" name="Google Shape;150;p25"/>
          <p:cNvPicPr preferRelativeResize="0"/>
          <p:nvPr/>
        </p:nvPicPr>
        <p:blipFill rotWithShape="1">
          <a:blip r:embed="rId3">
            <a:alphaModFix/>
          </a:blip>
          <a:srcRect b="9060" l="0" r="0" t="12899"/>
          <a:stretch/>
        </p:blipFill>
        <p:spPr>
          <a:xfrm>
            <a:off x="3400950" y="625125"/>
            <a:ext cx="5110799" cy="64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/>
          <p:cNvPicPr preferRelativeResize="0"/>
          <p:nvPr/>
        </p:nvPicPr>
        <p:blipFill rotWithShape="1">
          <a:blip r:embed="rId4">
            <a:alphaModFix/>
          </a:blip>
          <a:srcRect b="7969" l="0" r="0" t="0"/>
          <a:stretch/>
        </p:blipFill>
        <p:spPr>
          <a:xfrm>
            <a:off x="3400950" y="1650775"/>
            <a:ext cx="5110799" cy="18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25"/>
          <p:cNvCxnSpPr/>
          <p:nvPr/>
        </p:nvCxnSpPr>
        <p:spPr>
          <a:xfrm>
            <a:off x="3260200" y="1466850"/>
            <a:ext cx="537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>
                <a:solidFill>
                  <a:schemeClr val="dk1"/>
                </a:solidFill>
              </a:rPr>
              <a:t>Gradients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Julia iteration functions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Rough iterates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Smooth iterates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Anti-aliasing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Optimization</a:t>
            </a:r>
            <a:endParaRPr/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2550" y="304500"/>
            <a:ext cx="5719499" cy="453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</a:t>
            </a:r>
            <a:endParaRPr/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Gradients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>
                <a:solidFill>
                  <a:schemeClr val="dk1"/>
                </a:solidFill>
              </a:rPr>
              <a:t>Julia iteration functions</a:t>
            </a:r>
            <a:endParaRPr b="1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>
                <a:solidFill>
                  <a:schemeClr val="dk1"/>
                </a:solidFill>
              </a:rPr>
              <a:t>Rough iterates</a:t>
            </a:r>
            <a:endParaRPr b="1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Smooth iterates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Anti-aliasing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Optimization</a:t>
            </a:r>
            <a:endParaRPr/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7250" y="1068888"/>
            <a:ext cx="5719502" cy="3005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</a:t>
            </a:r>
            <a:endParaRPr/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Gradients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>
                <a:solidFill>
                  <a:schemeClr val="dk1"/>
                </a:solidFill>
              </a:rPr>
              <a:t>Julia iteration functions</a:t>
            </a:r>
            <a:endParaRPr b="1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Rough iterates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>
                <a:solidFill>
                  <a:schemeClr val="dk1"/>
                </a:solidFill>
              </a:rPr>
              <a:t>Smooth iterates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Anti-aliasing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Optimization</a:t>
            </a:r>
            <a:endParaRPr/>
          </a:p>
        </p:txBody>
      </p:sp>
      <p:pic>
        <p:nvPicPr>
          <p:cNvPr id="173" name="Google Shape;17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7239" y="1068888"/>
            <a:ext cx="5719502" cy="3005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</a:t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Gradients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>
                <a:solidFill>
                  <a:schemeClr val="dk1"/>
                </a:solidFill>
              </a:rPr>
              <a:t>Julia iteration functions</a:t>
            </a:r>
            <a:endParaRPr b="1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>
                <a:solidFill>
                  <a:schemeClr val="dk1"/>
                </a:solidFill>
              </a:rPr>
              <a:t>Rough iterates</a:t>
            </a:r>
            <a:endParaRPr b="1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>
                <a:solidFill>
                  <a:schemeClr val="dk1"/>
                </a:solidFill>
              </a:rPr>
              <a:t>Smooth iterates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Anti-aliasing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Optimization</a:t>
            </a:r>
            <a:endParaRPr/>
          </a:p>
        </p:txBody>
      </p:sp>
      <p:pic>
        <p:nvPicPr>
          <p:cNvPr id="180" name="Google Shape;18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700" y="286925"/>
            <a:ext cx="5450151" cy="351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9700" y="3935075"/>
            <a:ext cx="5450151" cy="660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Gradients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Julia iteration functions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Rough iterates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Smooth iterates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>
                <a:solidFill>
                  <a:schemeClr val="dk1"/>
                </a:solidFill>
              </a:rPr>
              <a:t>Anti-aliasing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Optimization</a:t>
            </a:r>
            <a:endParaRPr/>
          </a:p>
        </p:txBody>
      </p:sp>
      <p:pic>
        <p:nvPicPr>
          <p:cNvPr id="188" name="Google Shape;18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4375" y="666750"/>
            <a:ext cx="45148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4375" y="3847825"/>
            <a:ext cx="45339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4375" y="2686500"/>
            <a:ext cx="2228850" cy="10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</a:t>
            </a:r>
            <a:endParaRPr/>
          </a:p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Gradients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Julia iteration functions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Rough iterates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Smooth iterates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>
                <a:solidFill>
                  <a:schemeClr val="dk1"/>
                </a:solidFill>
              </a:rPr>
              <a:t>Anti-aliasing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Optimization</a:t>
            </a:r>
            <a:endParaRPr/>
          </a:p>
        </p:txBody>
      </p:sp>
      <p:pic>
        <p:nvPicPr>
          <p:cNvPr id="197" name="Google Shape;19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700" y="1068888"/>
            <a:ext cx="5719502" cy="3005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</a:t>
            </a:r>
            <a:endParaRPr/>
          </a:p>
        </p:txBody>
      </p:sp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Gradients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Julia iteration functions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Rough iterates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Smooth iterates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>
                <a:solidFill>
                  <a:schemeClr val="dk1"/>
                </a:solidFill>
              </a:rPr>
              <a:t>Anti-aliasing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Optimization</a:t>
            </a:r>
            <a:endParaRPr/>
          </a:p>
        </p:txBody>
      </p:sp>
      <p:pic>
        <p:nvPicPr>
          <p:cNvPr id="204" name="Google Shape;20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700" y="1068888"/>
            <a:ext cx="5719502" cy="3005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</a:t>
            </a:r>
            <a:endParaRPr/>
          </a:p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Gradients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Julia iteration functions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Rough iterates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Smooth iterates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Anti-aliasing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>
                <a:solidFill>
                  <a:schemeClr val="dk1"/>
                </a:solidFill>
              </a:rPr>
              <a:t>Optimization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211" name="Google Shape;21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4346" y="1730788"/>
            <a:ext cx="5489425" cy="168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</a:t>
            </a:r>
            <a:endParaRPr/>
          </a:p>
        </p:txBody>
      </p:sp>
      <p:sp>
        <p:nvSpPr>
          <p:cNvPr id="217" name="Google Shape;217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Gradients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Julia iteration functions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Rough iterates</a:t>
            </a:r>
            <a:endParaRPr/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Smooth iterates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Anti-aliasing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>
                <a:solidFill>
                  <a:schemeClr val="dk1"/>
                </a:solidFill>
              </a:rPr>
              <a:t>Optimization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218" name="Google Shape;2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8875" y="1068888"/>
            <a:ext cx="5719502" cy="3005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311700" y="397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Demo (-0.8,0.0) ∪ (0.8, 0.0)</a:t>
            </a:r>
            <a:endParaRPr/>
          </a:p>
        </p:txBody>
      </p:sp>
      <p:pic>
        <p:nvPicPr>
          <p:cNvPr id="224" name="Google Shape;224;p35" title="CPSC 455 Dem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7813" y="1562575"/>
            <a:ext cx="5728375" cy="322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Questions?</a:t>
            </a:r>
            <a:endParaRPr sz="2400"/>
          </a:p>
        </p:txBody>
      </p:sp>
      <p:pic>
        <p:nvPicPr>
          <p:cNvPr id="230" name="Google Shape;23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7150" y="1315022"/>
            <a:ext cx="4782802" cy="251344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6"/>
          <p:cNvSpPr txBox="1"/>
          <p:nvPr/>
        </p:nvSpPr>
        <p:spPr>
          <a:xfrm>
            <a:off x="3445111" y="3801201"/>
            <a:ext cx="47829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2"/>
                </a:solidFill>
                <a:latin typeface="Average"/>
                <a:ea typeface="Average"/>
                <a:cs typeface="Average"/>
                <a:sym typeface="Average"/>
              </a:rPr>
              <a:t>C = 0.28 + 0.008i (max_iter = 500)</a:t>
            </a:r>
            <a:endParaRPr i="1" sz="1200">
              <a:solidFill>
                <a:schemeClr val="dk2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https://github.com/johnBuffer/JuliaRendering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https://www.sfml-dev.org/index.php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https://www.karlsims.com/julia.html#:~:text=Julia%20set%20fractals%20are%20normally,gives%20a%20specific%20Julia%20set</a:t>
            </a:r>
            <a:r>
              <a:rPr lang="en">
                <a:solidFill>
                  <a:schemeClr val="dk2"/>
                </a:solidFill>
              </a:rPr>
              <a:t>.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